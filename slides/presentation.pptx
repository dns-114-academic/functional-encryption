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HuF5cUL0e9Ff/rBd1MNuo8wM1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51" d="100"/>
          <a:sy n="151" d="100"/>
        </p:scale>
        <p:origin x="5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print.iacr.org/2015/017" TargetMode="External"/><Relationship Id="rId7" Type="http://schemas.openxmlformats.org/officeDocument/2006/relationships/hyperlink" Target="https://eprint.iacr.org/2021/848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811.04017" TargetMode="External"/><Relationship Id="rId5" Type="http://schemas.openxmlformats.org/officeDocument/2006/relationships/hyperlink" Target="https://eprint.iacr.org/2001/090" TargetMode="External"/><Relationship Id="rId4" Type="http://schemas.openxmlformats.org/officeDocument/2006/relationships/hyperlink" Target="https://eprint.iacr.org/2010/54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450248" y="1375875"/>
            <a:ext cx="7137000" cy="17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575" tIns="76575" rIns="76575" bIns="765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356" b="1"/>
              <a:t>LE CHIFFREMENT FONCTIONNEL</a:t>
            </a:r>
            <a:endParaRPr sz="4356" b="1"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450260" y="3495381"/>
            <a:ext cx="7137000" cy="6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575" tIns="76575" rIns="76575" bIns="765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1545" dirty="0">
                <a:solidFill>
                  <a:srgbClr val="6FA8DC"/>
                </a:solidFill>
              </a:rPr>
              <a:t>GS - EB </a:t>
            </a:r>
            <a:r>
              <a:rPr lang="fr" sz="1545">
                <a:solidFill>
                  <a:srgbClr val="6FA8DC"/>
                </a:solidFill>
              </a:rPr>
              <a:t>- DO</a:t>
            </a:r>
            <a:endParaRPr sz="1545" dirty="0">
              <a:solidFill>
                <a:srgbClr val="6FA8DC"/>
              </a:solidFill>
            </a:endParaRPr>
          </a:p>
        </p:txBody>
      </p:sp>
      <p:pic>
        <p:nvPicPr>
          <p:cNvPr id="56" name="Google Shape;56;p1" title="boucli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250" y="555675"/>
            <a:ext cx="820200" cy="8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3725" y="-9985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37925" y="-1684350"/>
            <a:ext cx="3657600" cy="3657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"/>
          <p:cNvCxnSpPr/>
          <p:nvPr/>
        </p:nvCxnSpPr>
        <p:spPr>
          <a:xfrm>
            <a:off x="450250" y="3495375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1"/>
          <p:cNvSpPr txBox="1"/>
          <p:nvPr/>
        </p:nvSpPr>
        <p:spPr>
          <a:xfrm>
            <a:off x="450250" y="3095163"/>
            <a:ext cx="438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Déchiffrer un calcul, pas un message</a:t>
            </a: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Sommaire</a:t>
            </a:r>
            <a:endParaRPr b="1"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1"/>
          </p:nvPr>
        </p:nvSpPr>
        <p:spPr>
          <a:xfrm>
            <a:off x="311700" y="1093575"/>
            <a:ext cx="8520600" cy="21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Le principe du chiffrement fonctionnelle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Son histoire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Les différentes classes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IPFE (Decisional Diffie-Hellman DDH 2015)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Machines de Turing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Réseaux euclidiens pour le chiffrement fonctionnelle</a:t>
            </a:r>
            <a:endParaRPr/>
          </a:p>
        </p:txBody>
      </p:sp>
      <p:cxnSp>
        <p:nvCxnSpPr>
          <p:cNvPr id="67" name="Google Shape;67;p2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pic>
        <p:nvPicPr>
          <p:cNvPr id="69" name="Google Shape;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1059" y="3843834"/>
            <a:ext cx="1704031" cy="1704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9850" y="3332625"/>
            <a:ext cx="2726450" cy="27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fr" b="1"/>
              <a:t>&gt; Le problème du chiffrement classique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76" name="Google Shape;76;p3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3"/>
          <p:cNvSpPr/>
          <p:nvPr/>
        </p:nvSpPr>
        <p:spPr>
          <a:xfrm>
            <a:off x="987175" y="1698625"/>
            <a:ext cx="3055800" cy="2440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0100" y="1912550"/>
            <a:ext cx="482725" cy="4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 txBox="1"/>
          <p:nvPr/>
        </p:nvSpPr>
        <p:spPr>
          <a:xfrm>
            <a:off x="1473350" y="1891800"/>
            <a:ext cx="263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Chiffrement classique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987325" y="2492425"/>
            <a:ext cx="3055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TOUT ou RIEN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Soit vous avez la clé et voyez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tout le message en clair...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Soit vous n'avez rien.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036950" y="1698625"/>
            <a:ext cx="3055800" cy="2440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523125" y="1891800"/>
            <a:ext cx="263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Chiffrement Fonctionnel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5036950" y="2492425"/>
            <a:ext cx="3055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 ciblé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clé ne révèle que le résultat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d'une fonction précise f(x)...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données restent chiffrées.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3" title="image-removebg-preview (1).png"/>
          <p:cNvPicPr preferRelativeResize="0"/>
          <p:nvPr/>
        </p:nvPicPr>
        <p:blipFill rotWithShape="1">
          <a:blip r:embed="rId4">
            <a:alphaModFix/>
          </a:blip>
          <a:srcRect l="17527" t="8732" r="14116" b="6074"/>
          <a:stretch/>
        </p:blipFill>
        <p:spPr>
          <a:xfrm>
            <a:off x="5155150" y="1938149"/>
            <a:ext cx="367975" cy="3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Comment ça fonctionne 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91" name="Google Shape;91;p4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425" y="1656463"/>
            <a:ext cx="483000" cy="4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1230300" y="1656475"/>
            <a:ext cx="2063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Secret Key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4" title="image-removebg-preview (2).png"/>
          <p:cNvPicPr preferRelativeResize="0"/>
          <p:nvPr/>
        </p:nvPicPr>
        <p:blipFill rotWithShape="1">
          <a:blip r:embed="rId4">
            <a:alphaModFix/>
          </a:blip>
          <a:srcRect l="4100" r="19831"/>
          <a:stretch/>
        </p:blipFill>
        <p:spPr>
          <a:xfrm>
            <a:off x="1121125" y="2317563"/>
            <a:ext cx="5964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 rot="5400000">
            <a:off x="765975" y="2425338"/>
            <a:ext cx="306900" cy="336000"/>
          </a:xfrm>
          <a:prstGeom prst="bentUpArrow">
            <a:avLst>
              <a:gd name="adj1" fmla="val 11108"/>
              <a:gd name="adj2" fmla="val 14242"/>
              <a:gd name="adj3" fmla="val 25171"/>
            </a:avLst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1751275" y="2362425"/>
            <a:ext cx="15426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 rot="5400000">
            <a:off x="765975" y="3032688"/>
            <a:ext cx="306900" cy="336000"/>
          </a:xfrm>
          <a:prstGeom prst="bentUpArrow">
            <a:avLst>
              <a:gd name="adj1" fmla="val 11108"/>
              <a:gd name="adj2" fmla="val 14242"/>
              <a:gd name="adj3" fmla="val 25171"/>
            </a:avLst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1751275" y="2959200"/>
            <a:ext cx="15426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Clé pour F(x)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5600" y="1749932"/>
            <a:ext cx="847475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 title="image-removebg-preview (3).png"/>
          <p:cNvPicPr preferRelativeResize="0"/>
          <p:nvPr/>
        </p:nvPicPr>
        <p:blipFill rotWithShape="1">
          <a:blip r:embed="rId6">
            <a:alphaModFix/>
          </a:blip>
          <a:srcRect l="7425"/>
          <a:stretch/>
        </p:blipFill>
        <p:spPr>
          <a:xfrm>
            <a:off x="1121125" y="2845425"/>
            <a:ext cx="630150" cy="605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 title="image-removebg-preview (4).png"/>
          <p:cNvPicPr preferRelativeResize="0"/>
          <p:nvPr/>
        </p:nvPicPr>
        <p:blipFill rotWithShape="1">
          <a:blip r:embed="rId7">
            <a:alphaModFix/>
          </a:blip>
          <a:srcRect l="12425" t="13118" r="32476" b="7232"/>
          <a:stretch/>
        </p:blipFill>
        <p:spPr>
          <a:xfrm>
            <a:off x="5840625" y="1813725"/>
            <a:ext cx="709728" cy="7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 title="image-removebg-preview (3).png"/>
          <p:cNvPicPr preferRelativeResize="0"/>
          <p:nvPr/>
        </p:nvPicPr>
        <p:blipFill rotWithShape="1">
          <a:blip r:embed="rId6">
            <a:alphaModFix/>
          </a:blip>
          <a:srcRect l="7425"/>
          <a:stretch/>
        </p:blipFill>
        <p:spPr>
          <a:xfrm>
            <a:off x="6717900" y="1749927"/>
            <a:ext cx="1038239" cy="9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5456288" y="3547875"/>
            <a:ext cx="14784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fr"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F(x)</a:t>
            </a:r>
            <a:endParaRPr sz="3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4478038" y="2597400"/>
            <a:ext cx="15426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Donnée x chiffré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5725" y="2597388"/>
            <a:ext cx="15426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Clé pour F(x)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4" title="image-removebg-preview (5)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0">
            <a:off x="5926125" y="3048988"/>
            <a:ext cx="538750" cy="35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3551838" y="1055600"/>
            <a:ext cx="2033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929850" y="1055600"/>
            <a:ext cx="2033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173788" y="1055600"/>
            <a:ext cx="2033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À quoi ça sert 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116" name="Google Shape;116;p5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5450" y="1345900"/>
            <a:ext cx="910393" cy="91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5309" y="1445763"/>
            <a:ext cx="710671" cy="71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8107" y="1345900"/>
            <a:ext cx="910393" cy="91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6742" y="1444507"/>
            <a:ext cx="713185" cy="713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3332" y="1345907"/>
            <a:ext cx="910393" cy="91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51919" y="1444530"/>
            <a:ext cx="713185" cy="71318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1173808" y="2585250"/>
            <a:ext cx="20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Computing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3571833" y="2586650"/>
            <a:ext cx="20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Santé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936508" y="2585250"/>
            <a:ext cx="20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774979" y="2986850"/>
            <a:ext cx="1667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Statistiques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sans exposer les patients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099741" y="2985450"/>
            <a:ext cx="1667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Scoring de crédit sur données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chiffrées du client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357091" y="2985450"/>
            <a:ext cx="1667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Traiter des données chiffrées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sans les voir en clair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Histoire et origines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135" name="Google Shape;135;p6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cxnSp>
        <p:nvCxnSpPr>
          <p:cNvPr id="137" name="Google Shape;137;p6"/>
          <p:cNvCxnSpPr/>
          <p:nvPr/>
        </p:nvCxnSpPr>
        <p:spPr>
          <a:xfrm>
            <a:off x="654300" y="3298150"/>
            <a:ext cx="7835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8" name="Google Shape;138;p6"/>
          <p:cNvSpPr/>
          <p:nvPr/>
        </p:nvSpPr>
        <p:spPr>
          <a:xfrm>
            <a:off x="1500907" y="3164650"/>
            <a:ext cx="267000" cy="2670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88925" tIns="88925" rIns="88925" bIns="88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endParaRPr sz="136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452960" y="3164650"/>
            <a:ext cx="267000" cy="2670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88925" tIns="88925" rIns="88925" bIns="88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endParaRPr sz="136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14513" y="3164650"/>
            <a:ext cx="267000" cy="2670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88925" tIns="88925" rIns="88925" bIns="88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endParaRPr sz="136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376087" y="3164650"/>
            <a:ext cx="267000" cy="2670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88925" tIns="88925" rIns="88925" bIns="88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endParaRPr sz="136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204275" y="2891875"/>
            <a:ext cx="84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1984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204275" y="2653725"/>
            <a:ext cx="84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Shamir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3165850" y="2891875"/>
            <a:ext cx="84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2001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2734150" y="2653725"/>
            <a:ext cx="1704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Boneh &amp; Franklin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5127413" y="2891875"/>
            <a:ext cx="84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2005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4747773" y="2653725"/>
            <a:ext cx="1600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Sahai &amp; Waters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7088988" y="2891875"/>
            <a:ext cx="84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2011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6593372" y="2422875"/>
            <a:ext cx="1832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Boneh, Sahai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Waters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18450" y="3610125"/>
            <a:ext cx="203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Idée du chiffrement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basé sur l'identité (IBE)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2570500" y="3610125"/>
            <a:ext cx="203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Première réalisation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concrète de l'IBE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532075" y="3610125"/>
            <a:ext cx="203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Chiffrement basé sur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attributs (ABE)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6493650" y="3610125"/>
            <a:ext cx="203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Formalisation du terme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"Chiffrement fonctionnel à produit intérieur (IPFE)"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 t="5879" b="25600"/>
          <a:stretch/>
        </p:blipFill>
        <p:spPr>
          <a:xfrm>
            <a:off x="910450" y="1185137"/>
            <a:ext cx="1428850" cy="146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1600" y="1417522"/>
            <a:ext cx="682075" cy="100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5">
            <a:alphaModFix/>
          </a:blip>
          <a:srcRect l="6896" r="17576"/>
          <a:stretch/>
        </p:blipFill>
        <p:spPr>
          <a:xfrm>
            <a:off x="3719225" y="1417525"/>
            <a:ext cx="682075" cy="100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4089" y="1452210"/>
            <a:ext cx="682075" cy="93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7">
            <a:alphaModFix/>
          </a:blip>
          <a:srcRect r="27007"/>
          <a:stretch/>
        </p:blipFill>
        <p:spPr>
          <a:xfrm>
            <a:off x="5649888" y="1452200"/>
            <a:ext cx="682075" cy="9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1130" y="1453950"/>
            <a:ext cx="632745" cy="9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864" y="1453960"/>
            <a:ext cx="682075" cy="93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7">
            <a:alphaModFix/>
          </a:blip>
          <a:srcRect r="27007"/>
          <a:stretch/>
        </p:blipFill>
        <p:spPr>
          <a:xfrm>
            <a:off x="7825938" y="1453938"/>
            <a:ext cx="682075" cy="9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Les classes de fonctions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167" name="Google Shape;167;p7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501875" y="1040700"/>
            <a:ext cx="2033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919888" y="1042100"/>
            <a:ext cx="2033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267175" y="1042100"/>
            <a:ext cx="2033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267171" y="2869475"/>
            <a:ext cx="20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Identité (IBE)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3505196" y="2869475"/>
            <a:ext cx="20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Attributs (ABE)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26546" y="2761775"/>
            <a:ext cx="20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Produit scalaire (IPFE)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3708341" y="3269675"/>
            <a:ext cx="166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Politique booléenne sur des attributs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6103204" y="3362075"/>
            <a:ext cx="166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Produit scalaire ⟨x,y⟩ sur des vecteurs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1450454" y="3269675"/>
            <a:ext cx="166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d'égalité : la clé correspond-elle à l'identité ?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0675" y="1233075"/>
            <a:ext cx="1046700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5375" y="1233075"/>
            <a:ext cx="1046700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0050" y="1233075"/>
            <a:ext cx="104670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Les classes de fonctions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186" name="Google Shape;186;p8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" name="Google Shape;18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960950" y="1101650"/>
            <a:ext cx="2936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243025" y="1101650"/>
            <a:ext cx="2936700" cy="346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1694521" y="2912800"/>
            <a:ext cx="20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Quadratique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5412446" y="2912800"/>
            <a:ext cx="20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Fonctions arbitraires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5377700" y="3313000"/>
            <a:ext cx="2142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Plus sur des opérations mathématique mais des algoritheme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1877804" y="3313000"/>
            <a:ext cx="166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xᵀMy -&gt; corrélations, variances, distances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5800" y="1276400"/>
            <a:ext cx="1046700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88025" y="1276400"/>
            <a:ext cx="1046700" cy="10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 txBox="1"/>
          <p:nvPr/>
        </p:nvSpPr>
        <p:spPr>
          <a:xfrm>
            <a:off x="2292625" y="4019525"/>
            <a:ext cx="428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2025550" y="4187200"/>
            <a:ext cx="13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Calcul lourd</a:t>
            </a:r>
            <a:endParaRPr sz="1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5600600" y="4187200"/>
            <a:ext cx="169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Seulement Théorique</a:t>
            </a:r>
            <a:endParaRPr sz="1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IPFE - Les groupes cycliques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204" name="Google Shape;204;p9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311700" y="10326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L'analogie de l'horloge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4725" y="1529638"/>
            <a:ext cx="2581200" cy="2581200"/>
          </a:xfrm>
          <a:prstGeom prst="ellipse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1974175" y="1432863"/>
            <a:ext cx="34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2617075" y="1833063"/>
            <a:ext cx="58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g^1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2955575" y="2620138"/>
            <a:ext cx="58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g^3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2586925" y="3360588"/>
            <a:ext cx="58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g^4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1853575" y="3710638"/>
            <a:ext cx="58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854725" y="2620150"/>
            <a:ext cx="76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g^q-1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1133650" y="1833050"/>
            <a:ext cx="58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222375" y="45600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Avec p et q premiers et q = (p-1)/2</a:t>
            </a: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225375" y="2594500"/>
            <a:ext cx="3380700" cy="130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225375" y="1104775"/>
            <a:ext cx="3380700" cy="1157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00" y="1226375"/>
            <a:ext cx="342300" cy="3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5832300" y="1184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5415725" y="1716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Connaissant g et x, calculer </a:t>
            </a:r>
            <a:r>
              <a:rPr lang="fr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g^x mod p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03300" y="2714142"/>
            <a:ext cx="342300" cy="3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/>
        </p:nvSpPr>
        <p:spPr>
          <a:xfrm>
            <a:off x="5832300" y="2685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Difficile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5415725" y="32625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Connaissant g et g^x, retrouver </a:t>
            </a:r>
            <a:r>
              <a:rPr lang="fr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25376" y="4110850"/>
            <a:ext cx="3380700" cy="5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5415725" y="42315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C'est le logarithme discret</a:t>
            </a:r>
            <a:endParaRPr sz="1000" b="0" i="0" u="none" strike="noStrike" cap="non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2042"/>
            <a:ext cx="9144001" cy="372145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IPFE - Setup : construire le système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232" name="Google Shape;232;p10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10"/>
          <p:cNvSpPr txBox="1"/>
          <p:nvPr/>
        </p:nvSpPr>
        <p:spPr>
          <a:xfrm>
            <a:off x="311700" y="952775"/>
            <a:ext cx="317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L'autorité de confiance crée deux choses :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>
            <a:spLocks noGrp="1"/>
          </p:cNvSpPr>
          <p:nvPr>
            <p:ph type="sldNum" idx="12"/>
          </p:nvPr>
        </p:nvSpPr>
        <p:spPr>
          <a:xfrm>
            <a:off x="8595308" y="4655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22076"/>
            <a:ext cx="9143757" cy="3821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IPFE - Chiffrement : masquer chaque donnée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241" name="Google Shape;241;p11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2" name="Google Shape;242;p11"/>
          <p:cNvSpPr txBox="1"/>
          <p:nvPr/>
        </p:nvSpPr>
        <p:spPr>
          <a:xfrm>
            <a:off x="311700" y="952775"/>
            <a:ext cx="487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veut chiffrer  x = ( 350, 420, 280 )  les salaires de 3 employés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>
            <a:spLocks noGrp="1"/>
          </p:cNvSpPr>
          <p:nvPr>
            <p:ph type="sldNum" idx="12"/>
          </p:nvPr>
        </p:nvSpPr>
        <p:spPr>
          <a:xfrm>
            <a:off x="8595308" y="4655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9848"/>
            <a:ext cx="9144001" cy="418365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IPFE - KeyGen + Déchiffrement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cxnSp>
        <p:nvCxnSpPr>
          <p:cNvPr id="250" name="Google Shape;250;p12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12"/>
          <p:cNvSpPr txBox="1">
            <a:spLocks noGrp="1"/>
          </p:cNvSpPr>
          <p:nvPr>
            <p:ph type="sldNum" idx="12"/>
          </p:nvPr>
        </p:nvSpPr>
        <p:spPr>
          <a:xfrm>
            <a:off x="8595308" y="4655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De l’IPFE aux Machines de Turing</a:t>
            </a:r>
            <a:endParaRPr b="1"/>
          </a:p>
        </p:txBody>
      </p:sp>
      <p:cxnSp>
        <p:nvCxnSpPr>
          <p:cNvPr id="257" name="Google Shape;257;p13"/>
          <p:cNvCxnSpPr/>
          <p:nvPr/>
        </p:nvCxnSpPr>
        <p:spPr>
          <a:xfrm>
            <a:off x="311700" y="92216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13"/>
          <p:cNvSpPr txBox="1"/>
          <p:nvPr/>
        </p:nvSpPr>
        <p:spPr>
          <a:xfrm>
            <a:off x="311700" y="1334095"/>
            <a:ext cx="39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Où en sommes-nous ?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311700" y="1714095"/>
            <a:ext cx="3900000" cy="241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L’IPFE chiffre les produits scalaires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⟨x, y⟩ sur des vecteurs de dim. n.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 n figée au Setup -&gt; limite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structurelle fondamentale.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circuits booléens étendent les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fonctions, mais partagent la même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contrainte de taille fixe.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4572000" y="1374095"/>
            <a:ext cx="39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 que nous allons voir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4500000" y="1842707"/>
            <a:ext cx="3900000" cy="142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 Limite algébrique de l’IPFE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Les circuits booléens : même limite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Circuits booléens vs Machines de Turing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 Définition et construction FE pour MT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fr" sz="1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 Hypothèse LWE &amp; Théorème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La contrainte dimensionnelle de l’IPFE</a:t>
            </a:r>
            <a:endParaRPr b="1"/>
          </a:p>
        </p:txBody>
      </p:sp>
      <p:cxnSp>
        <p:nvCxnSpPr>
          <p:cNvPr id="268" name="Google Shape;268;p14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" name="Google Shape;269;p14"/>
          <p:cNvSpPr/>
          <p:nvPr/>
        </p:nvSpPr>
        <p:spPr>
          <a:xfrm>
            <a:off x="311700" y="900000"/>
            <a:ext cx="4050000" cy="35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 algébrique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⟨x, y⟩ = x₁y₁ + … + xₙyₙ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 uniquement défini pour dim(x) = dim(y)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dim(x’) = n’ ≠ n 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les clefs sk_y ∈ Z_p^n ne “voient” pas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les composantes supplémentaires.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chiffré enc(x) est un (n+1)-uplet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lié structurellement à la dim. 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700000" y="900000"/>
            <a:ext cx="4150000" cy="35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Conséquence pratique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nouveau Setup(n’) est obligatoire.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Toutes les clefs existantes sont invalidées.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Démonstration 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Setup(n=4) → ok pour x ∈ Z_p^4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Enc([12,15,9,7,3]) → ValueError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KeyGen(y=[1,1,1,1,1]) → ValueError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Les circuits booléens : la même limitation</a:t>
            </a:r>
            <a:endParaRPr b="1"/>
          </a:p>
        </p:txBody>
      </p:sp>
      <p:cxnSp>
        <p:nvCxnSpPr>
          <p:cNvPr id="277" name="Google Shape;277;p15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15"/>
          <p:cNvSpPr/>
          <p:nvPr/>
        </p:nvSpPr>
        <p:spPr>
          <a:xfrm>
            <a:off x="311700" y="900000"/>
            <a:ext cx="3900000" cy="27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Circuit C_n : taille fixée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entrées, portes AND/OR/XOR/NOT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taille |C| et profondeur d(C) figées.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C_count_4 ≠ C_count_5 ≠ C_count_100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circuit différent par taille d’input.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 pour circuits → une clé sk_{C_n}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 taille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4450000" y="900000"/>
            <a:ext cx="42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fr" sz="12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Taille description pour f_count :</a:t>
            </a:r>
            <a:endParaRPr sz="12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4450000" y="1508222"/>
            <a:ext cx="4200000" cy="41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fr"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Circuit : taille croît linéairement avec 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311700" y="3750000"/>
            <a:ext cx="8350000" cy="7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Bilan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IPFE et circuits partagent le calcul NON-UNIFORME : description différente pour chaque taille.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Machines de Turing ont une description constante —&gt; c’est le calcul UNIFORME.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pic>
        <p:nvPicPr>
          <p:cNvPr id="283" name="Google Shape;28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6731" y="2025682"/>
            <a:ext cx="2686538" cy="1243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Calcul uniforme vs non-uniforme</a:t>
            </a:r>
            <a:endParaRPr b="1"/>
          </a:p>
        </p:txBody>
      </p:sp>
      <p:cxnSp>
        <p:nvCxnSpPr>
          <p:cNvPr id="289" name="Google Shape;289;p16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" name="Google Shape;290;p16"/>
          <p:cNvSpPr/>
          <p:nvPr/>
        </p:nvSpPr>
        <p:spPr>
          <a:xfrm>
            <a:off x="311700" y="900000"/>
            <a:ext cx="3850000" cy="35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Non-uniforme (Circuits)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description différente par taille 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C_4, C_5, …, C_N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 pour circuits 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sk_{C_4}, sk_{C_5}, … clés distinctes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x varie : impossible d’avoir une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seule clé fonctionnelle valide pour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tout input.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Analogue à l’IPFE : n figé 🡨🡪 |C| figé.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16"/>
          <p:cNvCxnSpPr/>
          <p:nvPr/>
        </p:nvCxnSpPr>
        <p:spPr>
          <a:xfrm>
            <a:off x="4200000" y="2200000"/>
            <a:ext cx="700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2" name="Google Shape;292;p16"/>
          <p:cNvSpPr/>
          <p:nvPr/>
        </p:nvSpPr>
        <p:spPr>
          <a:xfrm>
            <a:off x="4950000" y="900000"/>
            <a:ext cx="3750000" cy="35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Uniforme (Machine de Turing)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seule description M 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|M| = constante, indépendant de |x|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 pour MT 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une seule clé sk_M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fonctionne pour tout x ∈ {0,1}*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T_M(n) varie avec n, mais 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reste le même programme.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FE pour Machines de Turing</a:t>
            </a:r>
            <a:endParaRPr b="1"/>
          </a:p>
        </p:txBody>
      </p:sp>
      <p:cxnSp>
        <p:nvCxnSpPr>
          <p:cNvPr id="299" name="Google Shape;299;p17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17"/>
          <p:cNvSpPr/>
          <p:nvPr/>
        </p:nvSpPr>
        <p:spPr>
          <a:xfrm>
            <a:off x="311700" y="900000"/>
            <a:ext cx="4000000" cy="20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Définition 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Setup(1^ λ) → (mpk, msk)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KeyGen(msk, M) → sk_M   [M = Machine de Turing]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Enc(mpk, x)  → c        [x ∈ {0,1}*, taille libre]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Dec(sk_M, c) → M(x)     [seul M(x) est révélé]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4450000" y="900000"/>
            <a:ext cx="4250000" cy="20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8B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Propriétés de taille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|c|   = poly(λ, |x|)     —    chiffré lin. en |x|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|sk_M| = poly(λ, |M|)    —    clé indép. de |x|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T_Dec  = poly(λ, T_M(|x|))    —    coût déchiffr.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311700" y="3050000"/>
            <a:ext cx="8400000" cy="165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  |  0  |  1  |  1  |  0  |    |    |  ...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^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|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tête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Hypothèse LWE &amp; IND-CPA</a:t>
            </a:r>
            <a:endParaRPr b="1"/>
          </a:p>
        </p:txBody>
      </p:sp>
      <p:cxnSp>
        <p:nvCxnSpPr>
          <p:cNvPr id="309" name="Google Shape;309;p18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0" name="Google Shape;310;p18"/>
          <p:cNvSpPr/>
          <p:nvPr/>
        </p:nvSpPr>
        <p:spPr>
          <a:xfrm>
            <a:off x="311700" y="1372150"/>
            <a:ext cx="4916792" cy="2976421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Équations linéaires (sans bruit)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· s = b         (mod q)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facile à résoudre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Équations bruitées (LWE)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· s + e = b     (mod q)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= petit bruit aléatoire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Hypothèse LWE :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difficile de retrouver s</a:t>
            </a:r>
            <a:endParaRPr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 de distinguer (A, A·s+e) d’un (A, u) aléatoire.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5376985" y="922687"/>
            <a:ext cx="3455315" cy="361729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Théorème: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(Agrawal-Maitra-Vempati-Yamada, CRYPTO 2021).</a:t>
            </a: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Sous l'hypothèse LWE et pour une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collusion bornée q= poly(λ), il existe un schéma FE pour MT satisfaisant la sécurité IND-CPA.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title"/>
          </p:nvPr>
        </p:nvSpPr>
        <p:spPr>
          <a:xfrm>
            <a:off x="311700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 b="1"/>
              <a:t>&gt; Sources</a:t>
            </a:r>
            <a:endParaRPr b="1"/>
          </a:p>
        </p:txBody>
      </p:sp>
      <p:cxnSp>
        <p:nvCxnSpPr>
          <p:cNvPr id="318" name="Google Shape;318;p19"/>
          <p:cNvCxnSpPr/>
          <p:nvPr/>
        </p:nvCxnSpPr>
        <p:spPr>
          <a:xfrm>
            <a:off x="311700" y="799450"/>
            <a:ext cx="37704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9" name="Google Shape;319;p19"/>
          <p:cNvSpPr txBox="1"/>
          <p:nvPr/>
        </p:nvSpPr>
        <p:spPr>
          <a:xfrm>
            <a:off x="311700" y="900000"/>
            <a:ext cx="8400000" cy="244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https://eprint.iacr.org/2015/017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fr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https://eprint.iacr.org/2010/543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https://eprint.iacr.org/2001/090</a:t>
            </a:r>
            <a:br>
              <a:rPr lang="fr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https://arxiv.org/abs/1811.04017</a:t>
            </a:r>
            <a:endParaRPr sz="105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https://eprint.iacr.org/2021/848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Microsoft Macintosh PowerPoint</Application>
  <PresentationFormat>Affichage à l'écran (16:9)</PresentationFormat>
  <Paragraphs>219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1" baseType="lpstr">
      <vt:lpstr>Arial</vt:lpstr>
      <vt:lpstr>Simple Light</vt:lpstr>
      <vt:lpstr>LE CHIFFREMENT FONCTIONNEL</vt:lpstr>
      <vt:lpstr>Sommaire</vt:lpstr>
      <vt:lpstr>&gt; Le problème du chiffrement classique  </vt:lpstr>
      <vt:lpstr>&gt; Comment ça fonctionne ?  </vt:lpstr>
      <vt:lpstr>&gt; À quoi ça sert ? </vt:lpstr>
      <vt:lpstr>&gt; Histoire et origines </vt:lpstr>
      <vt:lpstr>&gt; Les classes de fonctions </vt:lpstr>
      <vt:lpstr>&gt; Les classes de fonctions </vt:lpstr>
      <vt:lpstr>&gt; IPFE - Les groupes cycliques </vt:lpstr>
      <vt:lpstr>&gt; IPFE - Setup : construire le système </vt:lpstr>
      <vt:lpstr>&gt; IPFE - Chiffrement : masquer chaque donnée </vt:lpstr>
      <vt:lpstr>&gt; IPFE - KeyGen + Déchiffrement </vt:lpstr>
      <vt:lpstr>&gt; De l’IPFE aux Machines de Turing</vt:lpstr>
      <vt:lpstr>&gt; La contrainte dimensionnelle de l’IPFE</vt:lpstr>
      <vt:lpstr>&gt; Les circuits booléens : la même limitation</vt:lpstr>
      <vt:lpstr>&gt; Calcul uniforme vs non-uniforme</vt:lpstr>
      <vt:lpstr>&gt; FE pour Machines de Turing</vt:lpstr>
      <vt:lpstr>&gt; Hypothèse LWE &amp; IND-CPA</vt:lpstr>
      <vt:lpstr>&gt;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Denis Ozdemir</cp:lastModifiedBy>
  <cp:revision>1</cp:revision>
  <dcterms:modified xsi:type="dcterms:W3CDTF">2026-05-02T14:03:28Z</dcterms:modified>
</cp:coreProperties>
</file>